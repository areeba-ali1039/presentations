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8" r:id="rId10"/>
    <p:sldId id="264" r:id="rId11"/>
    <p:sldId id="270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1E61-CCE9-4F01-80C0-C24D42BE9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26525-AD5F-F720-CF16-2CDB230FD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3F437-D150-8C07-BC9E-56F60C56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6C2E-2AFC-562E-CC9B-4BA1E81D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74E5E-8E24-0C4C-39AA-999699E0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2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F8E8-984D-BF8C-EA54-5BB58DE7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EE3BE-4166-2E07-8BB4-1984F51A3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080B4-82BE-E3C4-4A65-33ED7639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3C997-1854-7745-F745-8C9CEE63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B673-03EC-A08F-174E-6C814C12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B230-1B5E-D132-0C74-8012A390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6B9C4-FCC8-1187-67B0-7779E1589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27335-CD71-B5CC-24FE-4779B7DF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43D8-126F-2160-48E4-86CF4AD4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337E2-A64B-1F57-F84E-91659A57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7943-0692-01DD-24FD-8D70722A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30C4D-F461-1DA7-D028-B54C689F8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E62F1-5B8B-74C6-F308-0A03E9F5E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5A18-7689-FEB4-3221-2E0571A3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A1BB1-A49B-27CB-D745-2C7206D8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34BC4-7095-58FA-0261-39174ECD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4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BA91B-EEDF-6048-99A3-56FE8A8A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8920-F263-4705-5A91-FBC6D3727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8CC7D-F7EC-1A92-EC03-A060221A9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D405E-3579-8594-75ED-9AD6202F9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96ADD-2151-408B-45D7-0A0645FE6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C325E-83C2-7F14-CF74-A963BB2B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2BAD6-0848-613B-0ECF-5A7EC6A3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CCB39-2EB0-A4EB-96F0-D1214190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D9E5-B437-C50A-9963-1C10F9ED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731D6-EC12-194D-6792-5E50B1F4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66237-78E0-C06A-A05F-EE053636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41F45-4EDE-39FA-13EE-96CAF774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3E709-63B0-0E97-E9B9-BECE456D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A987F-5550-B557-AC83-623C32D6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03568-2753-C8C3-0ED9-72D7898B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0966-A6B1-D333-87D6-2E7E7DF9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CFBC7-4CCF-A31F-113D-554A79ED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71138-320F-19B0-AC77-DDCD4A88C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07000-670E-975B-145A-9E93E118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CDEB1-598B-6DD3-2106-E3E4FF74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B3-B4DA-1FCF-C674-0F0A39BE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7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346F-2F99-AC80-35A2-9AB7889F1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60DA0-ADE5-73B2-F151-C0BD27FEE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AEF1D-AD67-EA12-E8BB-28AE7C8A6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36BB8-21F0-2785-1888-B74F9391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9153B-6342-089C-A89A-6F217A8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C8001-0068-BEC9-34F1-A62E6710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3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FA44-7EAD-41AC-6809-F7F528B9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1990E-714E-3F8F-82C4-4B37F41D7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018DA-87A0-BD01-1B0C-3D4289CF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8581-39A1-EA9D-61D4-7FFAD2A2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73457-3D26-783C-FF81-3F2AEDF5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F906D-7D54-F1FE-AFAE-589CA1CBA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37E7B-995E-2365-FA80-0E21EE263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58586-821C-7D18-CCBD-9BF34622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6DBD0-5CDE-A189-9DC4-848244B9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3DCE-C777-8165-64DD-E37B92CA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1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5DF59-460F-614E-3148-4B9BF567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639EF-8721-0034-0155-687478E45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4460-4648-A860-24F8-50E1DB97F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3E691-F6CA-4A37-B9C7-AA0EEFC4F51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E98A8-40F9-D4A3-AF0A-C8FBC181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52D3-869A-C484-2B77-AB468C9C6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48102-8DE8-4ACF-BE24-8FE78D2E4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1952-E2FC-B6FE-5D05-079A80C4E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854"/>
            <a:ext cx="9144000" cy="3865419"/>
          </a:xfrm>
        </p:spPr>
        <p:txBody>
          <a:bodyPr>
            <a:normAutofit/>
          </a:bodyPr>
          <a:lstStyle/>
          <a:p>
            <a:r>
              <a:rPr lang="en-GB" b="1" dirty="0"/>
              <a:t>Presentation By :</a:t>
            </a:r>
            <a:br>
              <a:rPr lang="en-GB" b="1" dirty="0"/>
            </a:br>
            <a:r>
              <a:rPr lang="en-GB" b="1" dirty="0"/>
              <a:t>Areeba Ali &amp; </a:t>
            </a:r>
            <a:br>
              <a:rPr lang="en-GB" b="1" dirty="0"/>
            </a:br>
            <a:r>
              <a:rPr lang="en-GB" b="1" dirty="0"/>
              <a:t>Shandana Shah</a:t>
            </a:r>
            <a:br>
              <a:rPr lang="en-GB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430E7-2C98-5249-30A2-727284A89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0336"/>
            <a:ext cx="9144000" cy="1787237"/>
          </a:xfrm>
        </p:spPr>
        <p:txBody>
          <a:bodyPr>
            <a:normAutofit/>
          </a:bodyPr>
          <a:lstStyle/>
          <a:p>
            <a:r>
              <a:rPr lang="en-GB" sz="6000" dirty="0"/>
              <a:t>BFS &amp; DFS Algorithm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3452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19E325-1519-1667-3A1B-586F74D9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a Graph?</a:t>
            </a:r>
            <a:br>
              <a:rPr lang="en-US" b="1" dirty="0"/>
            </a:br>
            <a:r>
              <a:rPr lang="en-US" sz="3600" dirty="0"/>
              <a:t>A </a:t>
            </a:r>
            <a:r>
              <a:rPr lang="en-US" sz="3600" b="1" dirty="0"/>
              <a:t>graph</a:t>
            </a:r>
            <a:r>
              <a:rPr lang="en-US" sz="3600" dirty="0"/>
              <a:t> is a data structure used to represent </a:t>
            </a:r>
            <a:r>
              <a:rPr lang="en-US" sz="3600" b="1" dirty="0"/>
              <a:t>relationships</a:t>
            </a:r>
            <a:r>
              <a:rPr lang="en-US" sz="3600" dirty="0"/>
              <a:t> or </a:t>
            </a:r>
            <a:r>
              <a:rPr lang="en-US" sz="3600" b="1" dirty="0"/>
              <a:t>connections</a:t>
            </a:r>
            <a:r>
              <a:rPr lang="en-US" sz="3600" dirty="0"/>
              <a:t> between objects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Graph consists of: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C1D29-19C8-6C1B-B4FB-F6BBF54DE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C0C0C0"/>
                </a:highlight>
              </a:rPr>
              <a:t>Vertices (Nodes)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Edges (Links)</a:t>
            </a:r>
            <a:endParaRPr lang="en-US" sz="32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92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B8B3-6473-069B-FC34-A1875DC276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5666" y="171449"/>
            <a:ext cx="10949650" cy="602100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To explore a graph, we use </a:t>
            </a:r>
            <a:r>
              <a:rPr lang="en-US" sz="4000" b="1" i="1" dirty="0"/>
              <a:t>graph traversal algorithms</a:t>
            </a:r>
            <a:r>
              <a:rPr lang="en-US" sz="3600" dirty="0"/>
              <a:t>. Two of the most fundamental traversal algorithms are:</a:t>
            </a:r>
            <a:br>
              <a:rPr lang="en-US" sz="3600" dirty="0"/>
            </a:br>
            <a:r>
              <a:rPr lang="en-US" sz="3600" dirty="0"/>
              <a:t>Breadth-First Search (BFS)</a:t>
            </a:r>
            <a:br>
              <a:rPr lang="en-US" sz="3600" dirty="0"/>
            </a:br>
            <a:r>
              <a:rPr lang="en-US" sz="3600" dirty="0"/>
              <a:t>Depth-First Search (DFS)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3628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61E1-98B2-0991-0C96-5621FDAF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1253330"/>
            <a:ext cx="11029709" cy="437358"/>
          </a:xfrm>
        </p:spPr>
        <p:txBody>
          <a:bodyPr>
            <a:noAutofit/>
          </a:bodyPr>
          <a:lstStyle/>
          <a:p>
            <a:r>
              <a:rPr lang="en-US" sz="6000" b="1" dirty="0">
                <a:highlight>
                  <a:srgbClr val="C0C0C0"/>
                </a:highlight>
              </a:rPr>
              <a:t>Breadth-First Search (BFS) :</a:t>
            </a:r>
            <a:br>
              <a:rPr lang="en-US" sz="6000" b="1" dirty="0">
                <a:highlight>
                  <a:srgbClr val="C0C0C0"/>
                </a:highlight>
              </a:rPr>
            </a:br>
            <a:endParaRPr lang="en-US" sz="6000" b="1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1373-2D97-A6CD-409F-8F82831C4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730" y="1253330"/>
            <a:ext cx="10515600" cy="5378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4000" dirty="0"/>
              <a:t>BFS is a </a:t>
            </a:r>
            <a:r>
              <a:rPr lang="en-US" sz="4000" b="1" dirty="0">
                <a:highlight>
                  <a:srgbClr val="808080"/>
                </a:highlight>
              </a:rPr>
              <a:t>level-order traversal</a:t>
            </a:r>
            <a:r>
              <a:rPr lang="en-US" sz="4000" dirty="0">
                <a:highlight>
                  <a:srgbClr val="808080"/>
                </a:highlight>
              </a:rPr>
              <a:t> </a:t>
            </a:r>
            <a:r>
              <a:rPr lang="en-US" sz="4000" dirty="0"/>
              <a:t>of a graph.</a:t>
            </a:r>
            <a:br>
              <a:rPr lang="en-US" sz="4000" dirty="0"/>
            </a:br>
            <a:r>
              <a:rPr lang="en-US" sz="4000" dirty="0"/>
              <a:t>It explores all neighbors of a vertex before moving deeper.</a:t>
            </a:r>
          </a:p>
          <a:p>
            <a:r>
              <a:rPr lang="en-US" sz="3600" dirty="0"/>
              <a:t>Think of it like </a:t>
            </a:r>
            <a:r>
              <a:rPr lang="en-US" sz="3600" b="1" dirty="0">
                <a:highlight>
                  <a:srgbClr val="C0C0C0"/>
                </a:highlight>
              </a:rPr>
              <a:t>ripple waves</a:t>
            </a:r>
            <a:r>
              <a:rPr lang="en-US" sz="3600" dirty="0">
                <a:highlight>
                  <a:srgbClr val="C0C0C0"/>
                </a:highlight>
              </a:rPr>
              <a:t> in water</a:t>
            </a:r>
            <a:r>
              <a:rPr lang="en-US" sz="3600" dirty="0"/>
              <a:t>:</a:t>
            </a:r>
            <a:br>
              <a:rPr lang="en-US" sz="3600" dirty="0"/>
            </a:br>
            <a:r>
              <a:rPr lang="en-US" sz="3600" dirty="0"/>
              <a:t>you drop a stone and the waves move outward equally —</a:t>
            </a:r>
            <a:br>
              <a:rPr lang="en-US" sz="3600" dirty="0"/>
            </a:br>
            <a:r>
              <a:rPr lang="en-US" sz="3600" dirty="0"/>
              <a:t>“</a:t>
            </a:r>
            <a:r>
              <a:rPr lang="en-US" sz="3600" b="1" dirty="0"/>
              <a:t>first nearest nodes, then next nearest nodes, then the far ones”.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379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4CCCE-969B-19A5-3439-AB8509CAF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15" y="2421081"/>
            <a:ext cx="4566585" cy="3252355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135AE58-A4FE-CC6C-7C3A-43CD75A2C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1925"/>
            <a:ext cx="11414125" cy="633095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GB" sz="5400" b="1" dirty="0">
                <a:highlight>
                  <a:srgbClr val="808080"/>
                </a:highlight>
              </a:rPr>
              <a:t>Example To Explain BFS :</a:t>
            </a:r>
            <a:endParaRPr lang="en-US" sz="5400" b="1" dirty="0">
              <a:highlight>
                <a:srgbClr val="80808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EDD5C-6841-0ED6-605A-4FFD57F5E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64" y="2702148"/>
            <a:ext cx="4566585" cy="28985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A80FEC-66AE-5097-24EE-E65810B2A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146" y="2421081"/>
            <a:ext cx="26765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7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2659-8D90-D905-4DF9-AC0B4121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>
                <a:highlight>
                  <a:srgbClr val="C0C0C0"/>
                </a:highlight>
              </a:rPr>
              <a:t>How it Work :</a:t>
            </a:r>
            <a:endParaRPr lang="en-US" sz="6000" b="1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BA6AF-7AC3-C0A4-3CA0-63E505CF5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BFS always explores nodes in the order of </a:t>
            </a:r>
            <a:r>
              <a:rPr lang="en-US" b="1" dirty="0"/>
              <a:t>their distance</a:t>
            </a:r>
            <a:r>
              <a:rPr lang="en-US" dirty="0"/>
              <a:t> from the starting node.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It visits nodes:</a:t>
            </a:r>
          </a:p>
          <a:p>
            <a:r>
              <a:rPr lang="en-US" dirty="0"/>
              <a:t>First the </a:t>
            </a:r>
            <a:r>
              <a:rPr lang="en-US" b="1" dirty="0"/>
              <a:t>start node</a:t>
            </a:r>
            <a:endParaRPr lang="en-US" dirty="0"/>
          </a:p>
          <a:p>
            <a:r>
              <a:rPr lang="en-US" dirty="0"/>
              <a:t>Then all </a:t>
            </a:r>
            <a:r>
              <a:rPr lang="en-US" b="1" dirty="0"/>
              <a:t>neighbors</a:t>
            </a:r>
            <a:r>
              <a:rPr lang="en-US" dirty="0"/>
              <a:t> (distance 1)</a:t>
            </a:r>
          </a:p>
          <a:p>
            <a:r>
              <a:rPr lang="en-US" dirty="0"/>
              <a:t>Then all </a:t>
            </a:r>
            <a:r>
              <a:rPr lang="en-US" b="1" dirty="0"/>
              <a:t>neighbors of neighbors</a:t>
            </a:r>
            <a:r>
              <a:rPr lang="en-US" dirty="0"/>
              <a:t> (distance 2)</a:t>
            </a:r>
          </a:p>
          <a:p>
            <a:r>
              <a:rPr lang="en-US" dirty="0"/>
              <a:t>And keeps going level by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5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E1CE-EEF6-00C8-9A22-077A2B4C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sz="6000" b="1" dirty="0">
                <a:highlight>
                  <a:srgbClr val="808080"/>
                </a:highlight>
              </a:rPr>
              <a:t>Data Structure Used: </a:t>
            </a:r>
            <a:br>
              <a:rPr lang="en-US" sz="6000" b="1" dirty="0">
                <a:highlight>
                  <a:srgbClr val="808080"/>
                </a:highlight>
              </a:rPr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7473F-7A85-BEDF-087A-D6CB8F66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BFS uses a </a:t>
            </a:r>
            <a:r>
              <a:rPr lang="en-US" sz="4000" b="1" dirty="0"/>
              <a:t>queue</a:t>
            </a:r>
            <a:r>
              <a:rPr lang="en-US" sz="4000" dirty="0"/>
              <a:t> because a queue follows </a:t>
            </a:r>
            <a:r>
              <a:rPr lang="en-US" sz="4000" b="1" dirty="0">
                <a:highlight>
                  <a:srgbClr val="C0C0C0"/>
                </a:highlight>
              </a:rPr>
              <a:t>FIFO</a:t>
            </a:r>
            <a:r>
              <a:rPr lang="en-US" sz="4000" dirty="0">
                <a:highlight>
                  <a:srgbClr val="C0C0C0"/>
                </a:highlight>
              </a:rPr>
              <a:t> (First In, First Out).</a:t>
            </a:r>
            <a:br>
              <a:rPr lang="en-US" sz="4000" dirty="0"/>
            </a:br>
            <a:r>
              <a:rPr lang="en-US" sz="4000" dirty="0"/>
              <a:t>The earliest discovered node is processed first — this is what creates the “levels.”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F8B00A-4C2F-D3A4-0D87-6E8B15954AF0}"/>
              </a:ext>
            </a:extLst>
          </p:cNvPr>
          <p:cNvSpPr/>
          <p:nvPr/>
        </p:nvSpPr>
        <p:spPr>
          <a:xfrm>
            <a:off x="1145894" y="1825625"/>
            <a:ext cx="3090440" cy="1450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QUEUE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3155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4F08-A3C8-B457-A213-FAB7AE87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>
                <a:highlight>
                  <a:srgbClr val="808080"/>
                </a:highlight>
              </a:rPr>
              <a:t>Implementation :</a:t>
            </a:r>
            <a:endParaRPr lang="en-US" sz="6000" b="1" dirty="0">
              <a:highlight>
                <a:srgbClr val="808080"/>
              </a:highlight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393EBED-AE23-2222-9519-0B7AFBD48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20119"/>
            <a:ext cx="9906000" cy="3562350"/>
          </a:xfrm>
        </p:spPr>
      </p:pic>
    </p:spTree>
    <p:extLst>
      <p:ext uri="{BB962C8B-B14F-4D97-AF65-F5344CB8AC3E}">
        <p14:creationId xmlns:p14="http://schemas.microsoft.com/office/powerpoint/2010/main" val="400525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05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585C-43B1-9689-FA3C-F54B1096D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-176645"/>
            <a:ext cx="10491354" cy="1392381"/>
          </a:xfrm>
        </p:spPr>
        <p:txBody>
          <a:bodyPr>
            <a:normAutofit/>
          </a:bodyPr>
          <a:lstStyle/>
          <a:p>
            <a:r>
              <a:rPr lang="en-GB" sz="6000" b="1" dirty="0">
                <a:highlight>
                  <a:srgbClr val="808080"/>
                </a:highlight>
              </a:rPr>
              <a:t>Code :</a:t>
            </a:r>
            <a:endParaRPr lang="en-US" sz="6000" b="1" dirty="0">
              <a:highlight>
                <a:srgbClr val="80808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C5C60-F723-B7F5-366E-90A650CE6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" y="945574"/>
            <a:ext cx="10664536" cy="5694218"/>
          </a:xfrm>
        </p:spPr>
      </p:pic>
    </p:spTree>
    <p:extLst>
      <p:ext uri="{BB962C8B-B14F-4D97-AF65-F5344CB8AC3E}">
        <p14:creationId xmlns:p14="http://schemas.microsoft.com/office/powerpoint/2010/main" val="160786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29A6-C2F1-8967-0222-686043DD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b="1" dirty="0">
                <a:highlight>
                  <a:srgbClr val="808080"/>
                </a:highlight>
              </a:rPr>
              <a:t>Time &amp; Space Complexity :</a:t>
            </a:r>
            <a:endParaRPr lang="en-US" sz="6000" b="1" dirty="0"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DD5C-C585-F93A-7D37-F98FB777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808080"/>
                </a:highlight>
              </a:rPr>
              <a:t>Time complexity:</a:t>
            </a:r>
          </a:p>
          <a:p>
            <a:r>
              <a:rPr lang="en-US" b="1" dirty="0"/>
              <a:t>Time Complexity = O(V + E)</a:t>
            </a:r>
          </a:p>
          <a:p>
            <a:pPr marL="0" indent="0">
              <a:buNone/>
            </a:pPr>
            <a:r>
              <a:rPr lang="en-US" dirty="0"/>
              <a:t>Where:</a:t>
            </a:r>
          </a:p>
          <a:p>
            <a:pPr marL="0" indent="0">
              <a:buNone/>
            </a:pPr>
            <a:r>
              <a:rPr lang="en-US" b="1" dirty="0"/>
              <a:t>V = number of vertices (nodes)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 = number of edges (connections)</a:t>
            </a:r>
            <a:endParaRPr lang="en-US" dirty="0"/>
          </a:p>
          <a:p>
            <a:r>
              <a:rPr lang="en-US" dirty="0">
                <a:highlight>
                  <a:srgbClr val="808080"/>
                </a:highlight>
              </a:rPr>
              <a:t>Space complexity:</a:t>
            </a:r>
          </a:p>
          <a:p>
            <a:pPr marL="0" indent="0">
              <a:buNone/>
            </a:pPr>
            <a:r>
              <a:rPr lang="en-US" dirty="0"/>
              <a:t>Space Complexity = </a:t>
            </a:r>
            <a:r>
              <a:rPr lang="en-US" b="1" dirty="0"/>
              <a:t>O(V + E)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1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5C2A-6152-D6D0-8076-AFDACDDB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3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highlight>
                  <a:srgbClr val="808080"/>
                </a:highlight>
              </a:rPr>
              <a:t>Where BFS is USE :</a:t>
            </a:r>
            <a:br>
              <a:rPr lang="en-US" sz="6600" b="1" dirty="0">
                <a:highlight>
                  <a:srgbClr val="808080"/>
                </a:highlight>
              </a:rPr>
            </a:br>
            <a:endParaRPr lang="en-US" sz="6600" b="1" dirty="0"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CA644-8970-81C2-DC73-E08355860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 Finding </a:t>
            </a:r>
            <a:r>
              <a:rPr lang="en-US" sz="3600" b="1" dirty="0"/>
              <a:t>shortest path in unweighted graph</a:t>
            </a:r>
            <a:endParaRPr lang="en-US" b="1" dirty="0"/>
          </a:p>
          <a:p>
            <a:r>
              <a:rPr lang="en-US" sz="3200" dirty="0"/>
              <a:t>Level Order Traversal in Trees</a:t>
            </a:r>
          </a:p>
          <a:p>
            <a:r>
              <a:rPr lang="en-US" sz="3200" dirty="0"/>
              <a:t>Finding</a:t>
            </a:r>
            <a:r>
              <a:rPr lang="en-US" sz="3200" b="1" dirty="0"/>
              <a:t> </a:t>
            </a:r>
            <a:r>
              <a:rPr lang="en-US" sz="3200" dirty="0"/>
              <a:t>Connected Components</a:t>
            </a:r>
          </a:p>
          <a:p>
            <a:r>
              <a:rPr lang="en-US" sz="3200" dirty="0"/>
              <a:t> Search web pages level by level.</a:t>
            </a:r>
          </a:p>
          <a:p>
            <a:r>
              <a:rPr lang="en-US" sz="3200" dirty="0"/>
              <a:t>Social Networks (Friend Suggestions)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3992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51BA-241F-7BA7-F48E-21A32C8E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64" y="365125"/>
            <a:ext cx="8683336" cy="5755120"/>
          </a:xfrm>
        </p:spPr>
        <p:txBody>
          <a:bodyPr>
            <a:normAutofit/>
          </a:bodyPr>
          <a:lstStyle/>
          <a:p>
            <a:r>
              <a:rPr lang="en-GB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lackadder ITC" panose="04020505051007020D02" pitchFamily="82" charset="0"/>
              </a:rPr>
              <a:t>Thank You !</a:t>
            </a:r>
            <a:endParaRPr 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332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Blackadder ITC</vt:lpstr>
      <vt:lpstr>Calibri</vt:lpstr>
      <vt:lpstr>Calibri Light</vt:lpstr>
      <vt:lpstr>Wingdings</vt:lpstr>
      <vt:lpstr>Office Theme</vt:lpstr>
      <vt:lpstr>Presentation By : Areeba Ali &amp;  Shandana Shah </vt:lpstr>
      <vt:lpstr>What is a Graph? A graph is a data structure used to represent relationships or connections between objects. Graph consists of:</vt:lpstr>
      <vt:lpstr>To explore a graph, we use graph traversal algorithms. Two of the most fundamental traversal algorithms are: Breadth-First Search (BFS) Depth-First Search (DFS) </vt:lpstr>
      <vt:lpstr>Breadth-First Search (BFS) : </vt:lpstr>
      <vt:lpstr>PowerPoint Presentation</vt:lpstr>
      <vt:lpstr>How it Work :</vt:lpstr>
      <vt:lpstr> Data Structure Used:   </vt:lpstr>
      <vt:lpstr>Implementation :</vt:lpstr>
      <vt:lpstr>PowerPoint Presentation</vt:lpstr>
      <vt:lpstr>Code :</vt:lpstr>
      <vt:lpstr>Time &amp; Space Complexity :</vt:lpstr>
      <vt:lpstr>Where BFS is USE :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Areeba Ali</dc:creator>
  <cp:lastModifiedBy>Areeba Ali</cp:lastModifiedBy>
  <cp:revision>4</cp:revision>
  <dcterms:created xsi:type="dcterms:W3CDTF">2025-11-26T04:59:25Z</dcterms:created>
  <dcterms:modified xsi:type="dcterms:W3CDTF">2025-12-08T03:42:53Z</dcterms:modified>
</cp:coreProperties>
</file>